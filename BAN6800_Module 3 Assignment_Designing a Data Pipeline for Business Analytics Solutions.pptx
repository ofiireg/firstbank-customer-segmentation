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1536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306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01367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0319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04998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2813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16455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607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43678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37327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13946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70358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9598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076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  <p:sldLayoutId id="214748402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A5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FOR BUSINESS ANALYTICS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and Validating FirstBank Nigeria</a:t>
            </a:r>
            <a:endParaRPr lang="en-US" sz="3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 Data Pipeline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41605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7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BAN6800: Business Analytics Capstone  |  Module 3 Assignment  |  Nexford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6177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OFURE MARIANE IREGBEYEN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9377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21-08-2026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5760720"/>
            <a:ext cx="512064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897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github.com/OfiIreg/FirstBank-customer-segmentation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Analytics Use Case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forward from Module 1 and Module 2, unchanged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657600" cy="1737360"/>
          </a:xfrm>
          <a:prstGeom prst="roundRect">
            <a:avLst>
              <a:gd name="adj" fmla="val 3158"/>
            </a:avLst>
          </a:prstGeom>
          <a:solidFill>
            <a:srgbClr val="EEF2F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0876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08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FirstBank Nigeria's 42M+ retail customers receive undifferentiated marketing. Relationship managers rely on demographic proxies, not behavior.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1508760"/>
            <a:ext cx="3657600" cy="1737360"/>
          </a:xfrm>
          <a:prstGeom prst="roundRect">
            <a:avLst>
              <a:gd name="adj" fmla="val 3158"/>
            </a:avLst>
          </a:prstGeom>
          <a:solidFill>
            <a:srgbClr val="EEF2F8"/>
          </a:solidFill>
          <a:ln/>
        </p:spPr>
      </p:sp>
      <p:sp>
        <p:nvSpPr>
          <p:cNvPr id="9" name="Shape 7"/>
          <p:cNvSpPr/>
          <p:nvPr/>
        </p:nvSpPr>
        <p:spPr>
          <a:xfrm>
            <a:off x="4251960" y="150876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4251960" y="1508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Type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214884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(behavioral clustering + propensity scoring) and prescriptive (next-best-offer recommendation), as scoped in Module 1.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508760"/>
            <a:ext cx="3657600" cy="1737360"/>
          </a:xfrm>
          <a:prstGeom prst="roundRect">
            <a:avLst>
              <a:gd name="adj" fmla="val 3158"/>
            </a:avLst>
          </a:prstGeom>
          <a:solidFill>
            <a:srgbClr val="EEF2F8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0" y="150876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1A7F37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0" y="1508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Module's Job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75320" y="214884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pipeline that turns raw transaction data into the clean, validated, governed feature table the Module 4 model will train 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11247120" cy="1463040"/>
          </a:xfrm>
          <a:prstGeom prst="roundRect">
            <a:avLst>
              <a:gd name="adj" fmla="val 3750"/>
            </a:avLst>
          </a:prstGeom>
          <a:solidFill>
            <a:srgbClr val="FFF7E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52044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the Module 2 Technical Architecture: Ingestion (AWS S3 + Glue) → Pipeline/ETL (Airflow + dbt) → Feature Store → Modeling (SageMaker). This module builds the Ingestion-through-Feature-Store portion of that diagram, in Python, against real data.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the Data Pipeline</a:t>
            </a:r>
            <a:endParaRPr lang="en-US" sz="3000" dirty="0"/>
          </a:p>
        </p:txBody>
      </p:sp>
      <p:pic>
        <p:nvPicPr>
          <p:cNvPr id="3" name="Image 0" descr="/home/claude/m3/diagrams/pipeline_st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0120"/>
            <a:ext cx="11247120" cy="2788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3886200"/>
            <a:ext cx="11247120" cy="1417320"/>
          </a:xfrm>
          <a:prstGeom prst="roundRect">
            <a:avLst>
              <a:gd name="adj" fmla="val 3871"/>
            </a:avLst>
          </a:prstGeom>
          <a:solidFill>
            <a:srgbClr val="EEF2F8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402336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→ Ingestion: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customer and transaction extracts, standing in for FirstBank's core-banking export.
</a:t>
            </a: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→ Transformation: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fixes, then aggregation into recency/frequency/monetary behavioral features.
</a:t>
            </a: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→ Validation: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joined with behavior into one table, then checked against 12 Great Expectations rules before handoff.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5532120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1F3864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55321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by Prefect DAG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971800" y="5532120"/>
            <a:ext cx="2834640" cy="292608"/>
          </a:xfrm>
          <a:prstGeom prst="roundRect">
            <a:avLst>
              <a:gd name="adj" fmla="val 25000"/>
            </a:avLst>
          </a:prstGeom>
          <a:solidFill>
            <a:srgbClr val="C9A227"/>
          </a:solidFill>
          <a:ln/>
        </p:spPr>
      </p:sp>
      <p:sp>
        <p:nvSpPr>
          <p:cNvPr id="9" name="Text 6"/>
          <p:cNvSpPr/>
          <p:nvPr/>
        </p:nvSpPr>
        <p:spPr>
          <a:xfrm>
            <a:off x="2971800" y="553212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privacy-audit logged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Inputs and Outputs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from the Module 2 Data Dictionary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100584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/ Format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customers_raw.csv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Demographic, CSV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batch (core-banking export)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transactions_raw.csv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Transactional, CSV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batch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36,267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457200" y="2606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Output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457200" y="3017520"/>
            <a:ext cx="5394960" cy="1554480"/>
          </a:xfrm>
          <a:prstGeom prst="roundRect">
            <a:avLst>
              <a:gd name="adj" fmla="val 3529"/>
            </a:avLst>
          </a:prstGeom>
          <a:solidFill>
            <a:srgbClr val="EEF2F8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315468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customer_analytics_table.csv
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 rows × 18 columns — an analysis table feeding both the Module 4 clustering model and the Module 1/2 Power BI segment dashboard.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309360" y="2606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Lineage</a:t>
            </a:r>
            <a:endParaRPr lang="en-US" sz="1700" dirty="0"/>
          </a:p>
        </p:txBody>
      </p:sp>
      <p:pic>
        <p:nvPicPr>
          <p:cNvPr id="9" name="Image 0" descr="/home/claude/m3/diagrams/data_line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1891" y="2862072"/>
            <a:ext cx="6296749" cy="344174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47091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(full resolution) traces every row from data/raw/ through data/interim/ to data/processed/, matching the zones defined in the Module 1 repository structure.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 DAG (Prefect)</a:t>
            </a:r>
            <a:endParaRPr lang="en-US" sz="3000" dirty="0"/>
          </a:p>
        </p:txBody>
      </p:sp>
      <p:pic>
        <p:nvPicPr>
          <p:cNvPr id="3" name="Image 0" descr="/home/claude/m3/diagrams/dag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0120"/>
            <a:ext cx="11247120" cy="2148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3246120"/>
            <a:ext cx="6949440" cy="3063240"/>
          </a:xfrm>
          <a:prstGeom prst="roundRect">
            <a:avLst>
              <a:gd name="adj" fmla="val 1493"/>
            </a:avLst>
          </a:prstGeom>
          <a:solidFill>
            <a:srgbClr val="1E1E1E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3429000"/>
            <a:ext cx="653796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@flow(name="firstbank-customer-segmentation-etl")
</a:t>
            </a:r>
            <a:r>
              <a:rPr lang="en-US" sz="12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firstbank_etl_pipeline():
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ingested = ingest_task()
    cleaned = clean_task(ingested)
    transformed = transform_task(cleaned)
    integrated = integrate_task(transformed)
    validated = validate_task(integrated)
    bias_checked = bias_check_task(validated)
    anonymized = anonymize_task(bias_checked)
    return anonymized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589520" y="3246120"/>
            <a:ext cx="4114800" cy="3063240"/>
          </a:xfrm>
          <a:prstGeom prst="roundRect">
            <a:avLst>
              <a:gd name="adj" fmla="val 1791"/>
            </a:avLst>
          </a:prstGeom>
          <a:solidFill>
            <a:srgbClr val="EEF2F8"/>
          </a:solidFill>
          <a:ln/>
        </p:spPr>
      </p:sp>
      <p:sp>
        <p:nvSpPr>
          <p:cNvPr id="7" name="Text 4"/>
          <p:cNvSpPr/>
          <p:nvPr/>
        </p:nvSpPr>
        <p:spPr>
          <a:xfrm>
            <a:off x="7818120" y="3401568"/>
            <a:ext cx="365760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run, not a mockup
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run completed successfully end to end:
</a:t>
            </a:r>
            <a:r>
              <a:rPr lang="en-US" sz="1150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ingest → 6,090 + 36,267 rows
✓ clean → 6,000 + 35,938 rows
✓ transform → 6,000 feature rows
✓ integrate → 6,000 × 18 table
✓ validate → 12/12 checks passed
✓ bias_check → 2 flags raised
✓ anonymize → 6,000 × 18 output
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log: logs/dag_run_log.txt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Processes: Data Preparation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data, duplicates, and quality issues — counts are from the actual pipeline run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448056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Found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duplicate customers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exact duplicates on customer_id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pandas.drop_duplicates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6,090 → 6,000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329 duplicate transactions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exact duplicate rows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pandas.drop_duplicates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36,267 → 35,938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age/gender/location/balance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(numeric) / "Unspecified" (categorical) imputation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nulls remain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ages (e.g., -1)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out-of-range, treat as missing, impute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ages 18–100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831 dirty category labels (e.g., "pos purchase")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Case-insensitive standardization map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 .str.lower() + map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clean categories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 extreme transaction outliers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Winsorize at 99.5th percentile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 .clip()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value &gt; p99.5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Free/open-source tooling throughout: pandas for cleaning, Faker for synthetic data generation — no paid licenses required.</a:t>
            </a:r>
            <a:endParaRPr lang="en-US" sz="1150" dirty="0"/>
          </a:p>
        </p:txBody>
      </p:sp>
      <p:sp>
        <p:nvSpPr>
          <p:cNvPr id="4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Validation with Great Expectations</a:t>
            </a:r>
            <a:endParaRPr lang="en-US" sz="3000" dirty="0"/>
          </a:p>
        </p:txBody>
      </p:sp>
      <p:pic>
        <p:nvPicPr>
          <p:cNvPr id="3" name="Image 0" descr="/home/claude/m3/repo/great_expectations/ge_validation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960120"/>
            <a:ext cx="6583680" cy="44805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960120"/>
            <a:ext cx="2148840" cy="4480560"/>
          </a:xfrm>
          <a:prstGeom prst="roundRect">
            <a:avLst>
              <a:gd name="adj" fmla="val 2553"/>
            </a:avLst>
          </a:prstGeom>
          <a:solidFill>
            <a:srgbClr val="EEF2F8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188720"/>
            <a:ext cx="2148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
</a:t>
            </a:r>
            <a:r>
              <a:rPr lang="en-US" sz="1050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expectations run
</a:t>
            </a:r>
            <a:r>
              <a:rPr lang="en-US" sz="3000" b="1" dirty="0">
                <a:solidFill>
                  <a:srgbClr val="1A7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
</a:t>
            </a:r>
            <a:r>
              <a:rPr lang="en-US" sz="1050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rate
</a:t>
            </a: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
</a:t>
            </a:r>
            <a:r>
              <a:rPr lang="en-US" sz="1050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509760" y="960120"/>
            <a:ext cx="21945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include: no nulls in customer_id/age/location, unique customer_id, plausible age and balance ranges, valid gender categories, and row/column count bounds — run against the real customer_analytics_table.csv, not a sample description.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Detection Suite (Fairlearn)</a:t>
            </a:r>
            <a:endParaRPr lang="en-US" sz="3000" dirty="0"/>
          </a:p>
        </p:txBody>
      </p:sp>
      <p:pic>
        <p:nvPicPr>
          <p:cNvPr id="3" name="Image 0" descr="/home/claude/m3/diagrams/bias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60120"/>
            <a:ext cx="7863840" cy="3429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595360" y="960120"/>
            <a:ext cx="3108960" cy="4480560"/>
          </a:xfrm>
          <a:prstGeom prst="roundRect">
            <a:avLst>
              <a:gd name="adj" fmla="val 1765"/>
            </a:avLst>
          </a:prstGeom>
          <a:solidFill>
            <a:srgbClr val="EEF2F8"/>
          </a:solidFill>
          <a:ln/>
        </p:spPr>
      </p:sp>
      <p:sp>
        <p:nvSpPr>
          <p:cNvPr id="5" name="Text 2"/>
          <p:cNvSpPr/>
          <p:nvPr/>
        </p:nvSpPr>
        <p:spPr>
          <a:xfrm>
            <a:off x="8823960" y="1143000"/>
            <a:ext cx="265176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flags
</a:t>
            </a: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"Unspecified" gender: 2.0% of customers (below 5% threshold)
</a:t>
            </a: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"60+" age band: 4.2% of customers (below 5% threshold)
</a:t>
            </a: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routed to the Data Protection Officer for review before the segment model is trained on this population, per the Module 1 Ethical AI Charter.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45720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data-representation audit (pre-model). The Demographic Parity and Equalized Odds metrics from the Module 2 report apply once the Module 4 model produces predictions to audit.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Anonymization and Privacy Audit Logging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Anonymization Plan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577840" cy="18288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Salted SHA-256 hash → ANON_xxxxxxxxxxxxxxxx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Generalized to age_band (e.g., 35–44)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account_balance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Generalized to balance_band (e.g., 50K–500K)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Generalized to geo_zone (e.g., South West)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337560"/>
            <a:ext cx="5577840" cy="2468880"/>
          </a:xfrm>
          <a:prstGeom prst="roundRect">
            <a:avLst>
              <a:gd name="adj" fmla="val 2222"/>
            </a:avLst>
          </a:prstGeom>
          <a:solidFill>
            <a:srgbClr val="EEF2F8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347472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names, phone numbers, or account numbers exist in this schema; the realistic risk is quasi-identifiers, addressed above.
Small-cell disclosure risk (e.g., a customer in a rare age/balance/zone combination) is cross-checked against the Bias Detection Suite's representation flags before any anonymized export leaves the pipeline boundary.
</a:t>
            </a: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plan: docs/data_anonymization_plan.md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309360" y="960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Audit Log (sample entries)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309360" y="1371600"/>
            <a:ext cx="5394960" cy="3246120"/>
          </a:xfrm>
          <a:prstGeom prst="roundRect">
            <a:avLst>
              <a:gd name="adj" fmla="val 1408"/>
            </a:avLst>
          </a:prstGeom>
          <a:solidFill>
            <a:srgbClr val="1E1E1E"/>
          </a:solidFill>
          <a:ln/>
        </p:spPr>
      </p:sp>
      <p:sp>
        <p:nvSpPr>
          <p:cNvPr id="9" name="Text 6"/>
          <p:cNvSpPr/>
          <p:nvPr/>
        </p:nvSpPr>
        <p:spPr>
          <a:xfrm>
            <a:off x="6537960" y="155448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{"stage": "clean", "dataset": "customers",
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"rows_affected": 6000, "note": "dropped 90
 duplicate customer records..."}
</a:t>
            </a: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{"stage": "clean", "dataset": "transactions",
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"rows_affected": 35938, "note": "standardized
 831 dirty category labels..."}
</a:t>
            </a: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{"stage": "anonymize",
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"dataset": "customer_analytics_table
 _anonymized", "rows_affected": 6000,
 "note": "irreversibly hashed customer_id..."}</a:t>
            </a:r>
            <a:endParaRPr lang="en-US" sz="1050" dirty="0"/>
          </a:p>
        </p:txBody>
      </p:sp>
      <p:sp>
        <p:nvSpPr>
          <p:cNvPr id="4" name="Text 7"/>
          <p:cNvSpPr/>
          <p:nvPr/>
        </p:nvSpPr>
        <p:spPr>
          <a:xfrm>
            <a:off x="6309360" y="475488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read, write, and transformation across all 7 pipeline stages is logged to logs/privacy_audit_log.jsonl via Python's logging module — satisfying the Module 3 audit logging requirement in full.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Governance, Reproducibility, and Containerization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Governance Framework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486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Access: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zone — Data Engineer only; anonymized table — open to analysts
</a:t>
            </a:r>
            <a:r>
              <a:rPr lang="en-US" sz="12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Retention: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90 days; audit log kept ≥ 1 year
</a:t>
            </a:r>
            <a:r>
              <a:rPr lang="en-US" sz="12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Usage: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 cases require AI &amp; Data Ethics Committee sign-off (Module 1)
</a:t>
            </a:r>
            <a:r>
              <a:rPr lang="en-US" sz="12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Traceability: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traces to a logged transformation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framework: docs/data_governance_framework.md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Reproducibility and Collaboration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requirements.txt pins every dependency version
• pytest suite (11 tests, all passing) guards the cleaning/transform logic
• GitHub Actions CI runs tests + full DAG on every push
• Dockerfile packages the whole pipeline for any teammate's machine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309360" y="960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Dockerfile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394960" cy="4480560"/>
          </a:xfrm>
          <a:prstGeom prst="roundRect">
            <a:avLst>
              <a:gd name="adj" fmla="val 1020"/>
            </a:avLst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55448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python:3.11-slim
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
COPY requirements.txt .
RUN pip install --no-cache-dir \
    -r requirements.txt
COPY src/ ./src/
COPY tests/ ./tests/
RUN useradd --create-home appuser
USER appuser
HEALTHCHECK CMD python -c \
  "import pandas, great_expectations"
CMD ["python", \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"src/pipeline/pipeline_dag.py"]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EEF2F8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05156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</a:t>
            </a:r>
            <a:r>
              <a:rPr lang="en-US" sz="1600" b="1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OfiIreg</a:t>
            </a:r>
            <a:r>
              <a:rPr lang="en-US" sz="16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/FirstBank-customer-segmentation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now includes (updated this module):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11247120" cy="2331720"/>
          </a:xfrm>
          <a:prstGeom prst="roundRect">
            <a:avLst>
              <a:gd name="adj" fmla="val 2353"/>
            </a:avLst>
          </a:prstGeom>
          <a:solidFill>
            <a:srgbClr val="EEF2F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06040"/>
            <a:ext cx="106070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src/pipeline/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ingest, clean, transform, integrate, validate, bias_detection, anonymize, pipeline_dag
</a:t>
            </a:r>
            <a:r>
              <a:rPr lang="en-US" sz="125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test_pipeline.py (11 unit tests, all passing)
</a:t>
            </a:r>
            <a:r>
              <a:rPr lang="en-US" sz="125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great_expectations/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validation_result.json, validation_report.html
</a:t>
            </a:r>
            <a:r>
              <a:rPr lang="en-US" sz="125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framework, anonymization plan, Module 1 &amp; 2 reports
</a:t>
            </a:r>
            <a:r>
              <a:rPr lang="en-US" sz="125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logs/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privacy_audit_log.jsonl, dag_run_log.txt
</a:t>
            </a:r>
            <a:r>
              <a:rPr lang="en-US" sz="1250" b="1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</a:t>
            </a:r>
            <a:r>
              <a:rPr lang="en-US" sz="125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requirements.txt, .github/workflows/pipeline-ci.yml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490173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Clone and run: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5550131"/>
            <a:ext cx="11247120" cy="1005840"/>
          </a:xfrm>
          <a:prstGeom prst="roundRect">
            <a:avLst>
              <a:gd name="adj" fmla="val 4545"/>
            </a:avLst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54864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 --break-system-packages
python src/pipeline/generate_raw_data.py &amp;&amp; python src/pipeline/pipeline_dag.py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Bansal, S. (2021). Bank customer segmentation (1M+ transactions) [Data set]. Kaggle.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57200" y="175564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3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Fairlearn</a:t>
            </a: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(2024). Fairlearn: A Python package to assess and improve fairness of machine learning models. https://fairlearn.org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322576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Great Expectations. (2024). Great Expectations documentation. https://docs.greatexpectations.io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2889504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National Information Technology Development Agency. (2023). Nigeria Data Protection Act, 2023. Federal Republic of Nigeria.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345643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Prefect Technologies. (2024). Prefect documentation. https://docs.prefect.io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Python Software Foundation. (2024). logging — Logging facility for Python. Python 3 documentation.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1657</TotalTime>
  <Words>1734</Words>
  <Application>Microsoft Office PowerPoint</Application>
  <PresentationFormat>Widescreen</PresentationFormat>
  <Paragraphs>140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Ofure Mariane Iregbeyen</dc:creator>
  <cp:lastModifiedBy>Ofure Mariane Iregbeyen</cp:lastModifiedBy>
  <cp:revision>2</cp:revision>
  <dcterms:created xsi:type="dcterms:W3CDTF">2026-08-21T20:42:02Z</dcterms:created>
  <dcterms:modified xsi:type="dcterms:W3CDTF">2026-08-23T00:27:07Z</dcterms:modified>
</cp:coreProperties>
</file>